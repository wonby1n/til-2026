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1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266" r:id="rId9"/>
    <p:sldId id="561" r:id="rId10"/>
    <p:sldId id="268" r:id="rId11"/>
    <p:sldId id="272" r:id="rId12"/>
    <p:sldId id="562" r:id="rId13"/>
    <p:sldId id="274" r:id="rId14"/>
    <p:sldId id="276" r:id="rId15"/>
    <p:sldId id="563" r:id="rId16"/>
    <p:sldId id="367" r:id="rId17"/>
    <p:sldId id="368" r:id="rId18"/>
    <p:sldId id="369" r:id="rId19"/>
    <p:sldId id="56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9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CE"/>
    <a:srgbClr val="FFFFCC"/>
    <a:srgbClr val="63B984"/>
    <a:srgbClr val="41915F"/>
    <a:srgbClr val="8ECCA6"/>
    <a:srgbClr val="60D690"/>
    <a:srgbClr val="27BB63"/>
    <a:srgbClr val="24AE5C"/>
    <a:srgbClr val="8FE2B0"/>
    <a:srgbClr val="3FC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2" autoAdjust="0"/>
    <p:restoredTop sz="96426" autoAdjust="0"/>
  </p:normalViewPr>
  <p:slideViewPr>
    <p:cSldViewPr snapToGrid="0" showGuides="1">
      <p:cViewPr varScale="1">
        <p:scale>
          <a:sx n="86" d="100"/>
          <a:sy n="86" d="100"/>
        </p:scale>
        <p:origin x="282" y="45"/>
      </p:cViewPr>
      <p:guideLst>
        <p:guide orient="horz" pos="754"/>
        <p:guide pos="325"/>
        <p:guide pos="3840"/>
        <p:guide pos="7469"/>
        <p:guide pos="211"/>
        <p:guide orient="horz" pos="4020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0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AEEDD-4ABF-4307-A208-F75625B4F15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CB76D-8964-4DE6-8474-615AE03092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6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246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95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12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9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504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63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403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8" y="268288"/>
            <a:ext cx="4491037" cy="25273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A33E8-ED6A-4226-B43E-428FEAC66801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83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93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151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681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934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351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83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87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733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사용자 지정 레이아웃" preserve="1">
  <p:cSld name="표지">
    <p:bg>
      <p:bgPr>
        <a:solidFill>
          <a:srgbClr val="8ECCA6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래픽 84">
            <a:extLst>
              <a:ext uri="{FF2B5EF4-FFF2-40B4-BE49-F238E27FC236}">
                <a16:creationId xmlns:a16="http://schemas.microsoft.com/office/drawing/2014/main" id="{D7094465-A8FD-93AF-6087-1CC415594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9748" y="298378"/>
            <a:ext cx="1349285" cy="33219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09D7FB8-06EB-A362-C411-2C348B6A9D30}"/>
              </a:ext>
            </a:extLst>
          </p:cNvPr>
          <p:cNvGrpSpPr/>
          <p:nvPr userDrawn="1"/>
        </p:nvGrpSpPr>
        <p:grpSpPr>
          <a:xfrm>
            <a:off x="4846378" y="4221380"/>
            <a:ext cx="2499244" cy="2636620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2B155A86-A809-F85B-8F4D-D9E098C403E8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C2D44F23-FDCB-A9DA-C5D0-5F15DD9D1267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3B8B0FA-FB3B-EF11-3342-8317EBF30121}"/>
              </a:ext>
            </a:extLst>
          </p:cNvPr>
          <p:cNvSpPr/>
          <p:nvPr userDrawn="1"/>
        </p:nvSpPr>
        <p:spPr>
          <a:xfrm rot="10800000">
            <a:off x="1615312" y="4442460"/>
            <a:ext cx="1194394" cy="635916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65E7EE-3FF7-C6EC-B334-7E365EC58FAB}"/>
              </a:ext>
            </a:extLst>
          </p:cNvPr>
          <p:cNvGrpSpPr/>
          <p:nvPr userDrawn="1"/>
        </p:nvGrpSpPr>
        <p:grpSpPr>
          <a:xfrm>
            <a:off x="3372559" y="5574126"/>
            <a:ext cx="1083937" cy="1283874"/>
            <a:chOff x="7578193" y="1528742"/>
            <a:chExt cx="1083937" cy="1283874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6BFBDDD-B585-9E0D-49FD-D5AB7A5DDC0D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0" name="그래픽 30">
              <a:extLst>
                <a:ext uri="{FF2B5EF4-FFF2-40B4-BE49-F238E27FC236}">
                  <a16:creationId xmlns:a16="http://schemas.microsoft.com/office/drawing/2014/main" id="{219D63FC-5350-7AC5-26FE-5F6262B0830E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2A30A9DA-BF99-7EB3-F1C4-4F8F38AD0576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C56D5133-EAAE-662D-EB46-F7029E309292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6" name="그래픽 14">
            <a:extLst>
              <a:ext uri="{FF2B5EF4-FFF2-40B4-BE49-F238E27FC236}">
                <a16:creationId xmlns:a16="http://schemas.microsoft.com/office/drawing/2014/main" id="{EA53751E-5A49-4721-B430-3F1AD9B083FD}"/>
              </a:ext>
            </a:extLst>
          </p:cNvPr>
          <p:cNvSpPr/>
          <p:nvPr/>
        </p:nvSpPr>
        <p:spPr>
          <a:xfrm>
            <a:off x="7865677" y="5531073"/>
            <a:ext cx="767512" cy="1326927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EFACA4-7932-6DF1-F1AE-235DB769C3A2}"/>
              </a:ext>
            </a:extLst>
          </p:cNvPr>
          <p:cNvGrpSpPr/>
          <p:nvPr userDrawn="1"/>
        </p:nvGrpSpPr>
        <p:grpSpPr>
          <a:xfrm>
            <a:off x="8916971" y="5296040"/>
            <a:ext cx="1741993" cy="470065"/>
            <a:chOff x="10276724" y="5229226"/>
            <a:chExt cx="2237199" cy="603693"/>
          </a:xfrm>
        </p:grpSpPr>
        <p:sp>
          <p:nvSpPr>
            <p:cNvPr id="13" name="그래픽 32">
              <a:extLst>
                <a:ext uri="{FF2B5EF4-FFF2-40B4-BE49-F238E27FC236}">
                  <a16:creationId xmlns:a16="http://schemas.microsoft.com/office/drawing/2014/main" id="{0E3B5C50-B703-AC08-C00B-2F3A7B6C207F}"/>
                </a:ext>
              </a:extLst>
            </p:cNvPr>
            <p:cNvSpPr/>
            <p:nvPr userDrawn="1"/>
          </p:nvSpPr>
          <p:spPr>
            <a:xfrm>
              <a:off x="10276724" y="5229226"/>
              <a:ext cx="1304222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그래픽 32">
              <a:extLst>
                <a:ext uri="{FF2B5EF4-FFF2-40B4-BE49-F238E27FC236}">
                  <a16:creationId xmlns:a16="http://schemas.microsoft.com/office/drawing/2014/main" id="{BC6B91A8-E1EF-9B34-B938-7EE3648EEDFE}"/>
                </a:ext>
              </a:extLst>
            </p:cNvPr>
            <p:cNvSpPr/>
            <p:nvPr userDrawn="1"/>
          </p:nvSpPr>
          <p:spPr>
            <a:xfrm rot="10800000">
              <a:off x="11209700" y="5229226"/>
              <a:ext cx="1304223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2" name="그림 4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7" y="292585"/>
            <a:ext cx="101563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>
  <p:cSld name="목차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0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 userDrawn="1">
  <p:cSld name="9_사용자 지정 레이아웃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26897543-8570-9741-CF64-0FC765434AE9}"/>
              </a:ext>
            </a:extLst>
          </p:cNvPr>
          <p:cNvSpPr/>
          <p:nvPr userDrawn="1"/>
        </p:nvSpPr>
        <p:spPr>
          <a:xfrm rot="16200000">
            <a:off x="1822357" y="671717"/>
            <a:ext cx="878943" cy="2131140"/>
          </a:xfrm>
          <a:prstGeom prst="round2SameRect">
            <a:avLst>
              <a:gd name="adj1" fmla="val 2642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sng" strike="noStrike" kern="0" cap="none" spc="0" normalizeH="0" baseline="0" noProof="0" dirty="0">
              <a:ln>
                <a:noFill/>
              </a:ln>
              <a:solidFill>
                <a:srgbClr val="538CD5"/>
              </a:solidFill>
              <a:effectLst/>
              <a:uLnTx/>
              <a:uFillTx/>
              <a:latin typeface="삼성긴고딕 Regular" panose="020B0600000101010101" pitchFamily="50" charset="-127"/>
              <a:ea typeface="삼성긴고딕 Regular" panose="020B0600000101010101" pitchFamily="50" charset="-127"/>
              <a:cs typeface="Malgun Gothic"/>
              <a:sym typeface="Malgun Gothic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B705DCB-C8E6-A3D9-99B8-79153A5511A9}"/>
              </a:ext>
            </a:extLst>
          </p:cNvPr>
          <p:cNvSpPr/>
          <p:nvPr userDrawn="1"/>
        </p:nvSpPr>
        <p:spPr>
          <a:xfrm>
            <a:off x="3327398" y="1297818"/>
            <a:ext cx="8864601" cy="878941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noProof="0" dirty="0">
              <a:sym typeface="Malgun Gothic"/>
            </a:endParaRPr>
          </a:p>
        </p:txBody>
      </p:sp>
      <p:pic>
        <p:nvPicPr>
          <p:cNvPr id="39" name="그림 3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9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>
  <p:cSld name="간지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2192000" cy="275590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ABEDEE1-A7FF-50CE-C4E7-FFA615B3D85D}"/>
              </a:ext>
            </a:extLst>
          </p:cNvPr>
          <p:cNvSpPr/>
          <p:nvPr/>
        </p:nvSpPr>
        <p:spPr>
          <a:xfrm rot="10800000">
            <a:off x="8409632" y="448866"/>
            <a:ext cx="788506" cy="419814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1440B68-87E3-524A-1CCE-1B9CABBB44F1}"/>
              </a:ext>
            </a:extLst>
          </p:cNvPr>
          <p:cNvGrpSpPr/>
          <p:nvPr userDrawn="1"/>
        </p:nvGrpSpPr>
        <p:grpSpPr>
          <a:xfrm>
            <a:off x="8883015" y="371677"/>
            <a:ext cx="2259996" cy="2384223"/>
            <a:chOff x="8883015" y="374724"/>
            <a:chExt cx="2259996" cy="2384223"/>
          </a:xfrm>
        </p:grpSpPr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96B8E5C3-4E74-02A3-53FC-FF2507286569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74E0636F-F460-17B7-E099-AC580E225286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F77622-6166-35C0-4D5A-3FF36F9E6857}"/>
              </a:ext>
            </a:extLst>
          </p:cNvPr>
          <p:cNvGrpSpPr/>
          <p:nvPr userDrawn="1"/>
        </p:nvGrpSpPr>
        <p:grpSpPr>
          <a:xfrm>
            <a:off x="8014840" y="1743554"/>
            <a:ext cx="854694" cy="1012346"/>
            <a:chOff x="7578193" y="1528742"/>
            <a:chExt cx="1083937" cy="1283874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B3AE739-0BE3-2A97-A2E5-99028AA15149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37" name="그래픽 30">
              <a:extLst>
                <a:ext uri="{FF2B5EF4-FFF2-40B4-BE49-F238E27FC236}">
                  <a16:creationId xmlns:a16="http://schemas.microsoft.com/office/drawing/2014/main" id="{74C8A250-0E48-D79B-DD85-087E993ED1E5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3475CA1E-571B-BE08-FDC0-426F62CF1C75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3D46E539-354F-F26F-DFA1-EE4A9A22203A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34" name="그래픽 32">
            <a:extLst>
              <a:ext uri="{FF2B5EF4-FFF2-40B4-BE49-F238E27FC236}">
                <a16:creationId xmlns:a16="http://schemas.microsoft.com/office/drawing/2014/main" id="{7FB58D05-70B8-ED3F-D589-E55BC26E419A}"/>
              </a:ext>
            </a:extLst>
          </p:cNvPr>
          <p:cNvSpPr/>
          <p:nvPr/>
        </p:nvSpPr>
        <p:spPr>
          <a:xfrm>
            <a:off x="11263836" y="1313929"/>
            <a:ext cx="928164" cy="429625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334C9C1D-9EA0-3AF4-567E-B719D7F56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25;p8">
            <a:extLst>
              <a:ext uri="{FF2B5EF4-FFF2-40B4-BE49-F238E27FC236}">
                <a16:creationId xmlns:a16="http://schemas.microsoft.com/office/drawing/2014/main" id="{7C3BEB68-75D6-D67B-E4F7-135DCE9FF8D0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내지">
    <p:bg>
      <p:bgPr>
        <a:solidFill>
          <a:srgbClr val="8ECCA6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5C7AA9E-E7A6-B4CF-746E-0BE5946C520B}"/>
              </a:ext>
            </a:extLst>
          </p:cNvPr>
          <p:cNvSpPr/>
          <p:nvPr userDrawn="1"/>
        </p:nvSpPr>
        <p:spPr>
          <a:xfrm>
            <a:off x="442764" y="1119742"/>
            <a:ext cx="11490156" cy="5518879"/>
          </a:xfrm>
          <a:prstGeom prst="roundRect">
            <a:avLst>
              <a:gd name="adj" fmla="val 3744"/>
            </a:avLst>
          </a:prstGeom>
          <a:solidFill>
            <a:srgbClr val="63B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Google Shape;81;p18">
            <a:extLst>
              <a:ext uri="{FF2B5EF4-FFF2-40B4-BE49-F238E27FC236}">
                <a16:creationId xmlns:a16="http://schemas.microsoft.com/office/drawing/2014/main" id="{B662AF3F-B57D-B777-D8BE-52A28D03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</a:lstStyle>
          <a:p>
            <a: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</a:pPr>
            <a:endParaRPr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8899DB58-0559-1861-0B08-531F63D2EB0E}"/>
              </a:ext>
            </a:extLst>
          </p:cNvPr>
          <p:cNvSpPr/>
          <p:nvPr userDrawn="1"/>
        </p:nvSpPr>
        <p:spPr>
          <a:xfrm>
            <a:off x="350520" y="1040743"/>
            <a:ext cx="11507004" cy="5518879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4776658-ABF2-F097-D293-AF8D62D845F1}"/>
              </a:ext>
            </a:extLst>
          </p:cNvPr>
          <p:cNvGrpSpPr/>
          <p:nvPr userDrawn="1"/>
        </p:nvGrpSpPr>
        <p:grpSpPr>
          <a:xfrm>
            <a:off x="10882726" y="205740"/>
            <a:ext cx="791497" cy="835003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41D86E9-CD1E-E737-5667-0F12DDB1F522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A1E490D-9F1F-E7B0-723A-899A2F18B2FE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" name="그래픽 14">
            <a:extLst>
              <a:ext uri="{FF2B5EF4-FFF2-40B4-BE49-F238E27FC236}">
                <a16:creationId xmlns:a16="http://schemas.microsoft.com/office/drawing/2014/main" id="{93CCA722-3856-6980-1FBF-F6FDEEB3CA46}"/>
              </a:ext>
            </a:extLst>
          </p:cNvPr>
          <p:cNvSpPr/>
          <p:nvPr userDrawn="1"/>
        </p:nvSpPr>
        <p:spPr>
          <a:xfrm>
            <a:off x="10533741" y="536887"/>
            <a:ext cx="296122" cy="511955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F62DE03-65CF-2711-CF35-ED6F3B32252D}"/>
              </a:ext>
            </a:extLst>
          </p:cNvPr>
          <p:cNvSpPr/>
          <p:nvPr userDrawn="1"/>
        </p:nvSpPr>
        <p:spPr>
          <a:xfrm rot="10800000">
            <a:off x="10066945" y="147573"/>
            <a:ext cx="350050" cy="186372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그래픽 32">
            <a:extLst>
              <a:ext uri="{FF2B5EF4-FFF2-40B4-BE49-F238E27FC236}">
                <a16:creationId xmlns:a16="http://schemas.microsoft.com/office/drawing/2014/main" id="{498A5632-E15D-1C8B-48CD-5F2D34DAED73}"/>
              </a:ext>
            </a:extLst>
          </p:cNvPr>
          <p:cNvSpPr/>
          <p:nvPr userDrawn="1"/>
        </p:nvSpPr>
        <p:spPr>
          <a:xfrm>
            <a:off x="11779950" y="523182"/>
            <a:ext cx="412050" cy="190728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0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CD57A-C1A9-4E71-A523-19C543C56F9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B2C9-66D0-4D32-8E66-D2C09C079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6" r:id="rId3"/>
    <p:sldLayoutId id="2147483721" r:id="rId4"/>
    <p:sldLayoutId id="214748372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 txBox="1">
            <a:spLocks/>
          </p:cNvSpPr>
          <p:nvPr/>
        </p:nvSpPr>
        <p:spPr>
          <a:xfrm>
            <a:off x="1291465" y="1593281"/>
            <a:ext cx="9121087" cy="4985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rtlCol="0" anchor="t" anchorCtr="0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  <a:lvl2pPr marL="742913" indent="-285737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Unmanaged Language vs Managed Language</a:t>
            </a:r>
            <a:endParaRPr lang="en-US" altLang="en-US" sz="3600" b="1" kern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Medium"/>
              <a:ea typeface="삼성긴고딕OTF Medium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5234940" y="2613660"/>
            <a:ext cx="1722120" cy="472440"/>
            <a:chOff x="5234940" y="2720340"/>
            <a:chExt cx="172212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5234940" y="2720340"/>
              <a:ext cx="172212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445181" y="2794978"/>
              <a:ext cx="1301638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altLang="ko-KR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2026.03.27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486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목적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81517" y="2030592"/>
            <a:ext cx="1106634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6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 Language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와 </a:t>
            </a:r>
            <a:r>
              <a:rPr lang="en-US" altLang="ko-KR" sz="2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 Language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</a:t>
            </a:r>
            <a:r>
              <a:rPr lang="ko-KR" altLang="en-US" sz="2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 관리 하는 방법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</a:t>
            </a:r>
            <a:endParaRPr lang="en-US" altLang="ko-KR" sz="26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lvl="0"/>
            <a:r>
              <a:rPr lang="en-US" altLang="ko-KR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차이를 학습한다</a:t>
            </a:r>
            <a:r>
              <a:rPr lang="en-US" altLang="ko-KR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6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어떤 상황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에서 </a:t>
            </a:r>
            <a:r>
              <a:rPr lang="ko-KR" altLang="en-US" sz="2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두 언어를 사용</a:t>
            </a:r>
            <a:r>
              <a:rPr lang="ko-KR" altLang="en-US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해야 하는지 학습한다</a:t>
            </a:r>
            <a:r>
              <a:rPr lang="en-US" altLang="ko-KR" sz="2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6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87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27" y="1463040"/>
            <a:ext cx="3086100" cy="4631754"/>
          </a:xfrm>
          <a:prstGeom prst="rect">
            <a:avLst/>
          </a:prstGeom>
        </p:spPr>
      </p:pic>
      <p:sp>
        <p:nvSpPr>
          <p:cNvPr id="4" name="TextBox 10"/>
          <p:cNvSpPr txBox="1"/>
          <p:nvPr/>
        </p:nvSpPr>
        <p:spPr>
          <a:xfrm>
            <a:off x="534413" y="6089459"/>
            <a:ext cx="475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프로그램 실행 시 잡혀지는 </a:t>
            </a:r>
            <a:r>
              <a:rPr lang="en-US" altLang="ko-KR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Memory </a:t>
            </a:r>
            <a:r>
              <a:rPr lang="ko-KR" altLang="en-US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</a:t>
            </a:r>
            <a:r>
              <a:rPr lang="en-US" altLang="ko-KR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ko-KR" altLang="en-US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간략 구조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49626" y="3049988"/>
            <a:ext cx="2929894" cy="12269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49627" y="4345577"/>
            <a:ext cx="2929893" cy="15799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cxnSp>
        <p:nvCxnSpPr>
          <p:cNvPr id="7" name="직선 연결선 6"/>
          <p:cNvCxnSpPr>
            <a:stCxn id="5" idx="3"/>
            <a:endCxn id="13" idx="1"/>
          </p:cNvCxnSpPr>
          <p:nvPr/>
        </p:nvCxnSpPr>
        <p:spPr>
          <a:xfrm flipV="1">
            <a:off x="3779520" y="2354097"/>
            <a:ext cx="1837910" cy="13093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stCxn id="5" idx="3"/>
          </p:cNvCxnSpPr>
          <p:nvPr/>
        </p:nvCxnSpPr>
        <p:spPr>
          <a:xfrm>
            <a:off x="3779520" y="3663487"/>
            <a:ext cx="1817754" cy="47258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22"/>
          <p:cNvSpPr txBox="1"/>
          <p:nvPr/>
        </p:nvSpPr>
        <p:spPr>
          <a:xfrm>
            <a:off x="5617430" y="1066030"/>
            <a:ext cx="5597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Language : </a:t>
            </a:r>
            <a:r>
              <a:rPr lang="ko-KR" altLang="en-US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영역에 잡혀진 메모리를 </a:t>
            </a:r>
            <a:endParaRPr lang="en-US" altLang="ko-KR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                                     </a:t>
            </a:r>
            <a:r>
              <a:rPr lang="ko-KR" altLang="en-US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프로그래머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</a:t>
            </a:r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직접 관리</a:t>
            </a:r>
          </a:p>
        </p:txBody>
      </p:sp>
      <p:sp>
        <p:nvSpPr>
          <p:cNvPr id="10" name="TextBox 23"/>
          <p:cNvSpPr txBox="1"/>
          <p:nvPr/>
        </p:nvSpPr>
        <p:spPr>
          <a:xfrm>
            <a:off x="5617429" y="3025850"/>
            <a:ext cx="7140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 Language : </a:t>
            </a:r>
            <a:r>
              <a:rPr lang="ko-KR" altLang="en-US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영역에 잡혀진 메모리가 </a:t>
            </a:r>
            <a:endParaRPr lang="en-US" altLang="ko-KR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b="1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                                 </a:t>
            </a:r>
            <a:r>
              <a:rPr lang="en-US" altLang="ko-KR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Garbage Collector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에서 자동으로 관리</a:t>
            </a:r>
          </a:p>
        </p:txBody>
      </p:sp>
      <p:cxnSp>
        <p:nvCxnSpPr>
          <p:cNvPr id="11" name="직선 연결선 10"/>
          <p:cNvCxnSpPr>
            <a:endCxn id="14" idx="1"/>
          </p:cNvCxnSpPr>
          <p:nvPr/>
        </p:nvCxnSpPr>
        <p:spPr>
          <a:xfrm>
            <a:off x="3779520" y="4920343"/>
            <a:ext cx="1837910" cy="891697"/>
          </a:xfrm>
          <a:prstGeom prst="line">
            <a:avLst/>
          </a:prstGeom>
          <a:ln w="254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27"/>
          <p:cNvSpPr txBox="1"/>
          <p:nvPr/>
        </p:nvSpPr>
        <p:spPr>
          <a:xfrm>
            <a:off x="5597274" y="4882553"/>
            <a:ext cx="561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 / </a:t>
            </a:r>
            <a:r>
              <a:rPr lang="en-US" altLang="ko-KR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다 동일한 방식으로 구현</a:t>
            </a:r>
            <a:endParaRPr lang="en-US" altLang="ko-KR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13" name="TextBox 29"/>
          <p:cNvSpPr txBox="1"/>
          <p:nvPr/>
        </p:nvSpPr>
        <p:spPr>
          <a:xfrm>
            <a:off x="5617430" y="1707766"/>
            <a:ext cx="5390205" cy="129266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TestA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()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{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class</a:t>
            </a:r>
            <a:r>
              <a:rPr lang="en-US" altLang="ko-KR" sz="13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*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a = </a:t>
            </a:r>
            <a:r>
              <a:rPr lang="en-US" altLang="ko-KR" sz="13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new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class();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=&gt; 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이 구문을 실행 시 </a:t>
            </a:r>
            <a:r>
              <a:rPr lang="ko-KR" altLang="en-US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영역에 할당이 된다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}</a:t>
            </a:r>
          </a:p>
          <a:p>
            <a:r>
              <a:rPr lang="ko-KR" altLang="en-US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블록문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벗어 </a:t>
            </a:r>
            <a:r>
              <a:rPr lang="ko-KR" altLang="en-US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낫을때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수동으로 지우지 않으면 메모리가 남아 있는다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617430" y="5227264"/>
            <a:ext cx="5390204" cy="116955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TestC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</a:t>
            </a:r>
            <a:r>
              <a:rPr lang="en-US" altLang="ko-KR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int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a, </a:t>
            </a:r>
            <a:r>
              <a:rPr lang="en-US" altLang="ko-KR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int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b)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{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class c;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}</a:t>
            </a:r>
          </a:p>
          <a:p>
            <a:r>
              <a:rPr lang="ko-KR" altLang="en-US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블록문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벗어나면 알아서 해제가 된다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</p:txBody>
      </p:sp>
      <p:sp>
        <p:nvSpPr>
          <p:cNvPr id="15" name="TextBox 33"/>
          <p:cNvSpPr txBox="1"/>
          <p:nvPr/>
        </p:nvSpPr>
        <p:spPr>
          <a:xfrm>
            <a:off x="5617429" y="3622118"/>
            <a:ext cx="5390205" cy="129266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TestB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()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{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class b = </a:t>
            </a:r>
            <a:r>
              <a:rPr lang="en-US" altLang="ko-KR" sz="13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new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class();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=&gt; 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이 구문을 실행 시 </a:t>
            </a:r>
            <a:r>
              <a:rPr lang="ko-KR" altLang="en-US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영역에 할당이 된다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  <a:p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}</a:t>
            </a:r>
          </a:p>
          <a:p>
            <a:r>
              <a:rPr lang="ko-KR" altLang="en-US" sz="13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블록문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벗어나면 메모리가 남아 있지만 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GC</a:t>
            </a:r>
            <a:r>
              <a:rPr lang="ko-KR" altLang="en-US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감지한다</a:t>
            </a:r>
            <a:r>
              <a:rPr lang="en-US" altLang="ko-KR" sz="13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</p:txBody>
      </p:sp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1. Managed, </a:t>
            </a:r>
            <a:r>
              <a:rPr lang="en-US" altLang="ko-KR" sz="28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개념</a:t>
            </a:r>
            <a:b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</a:b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86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6687312" y="1366645"/>
            <a:ext cx="2868373" cy="30697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868867" y="1858718"/>
            <a:ext cx="2480084" cy="2345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76" y="2503270"/>
            <a:ext cx="2286000" cy="2190750"/>
          </a:xfrm>
          <a:prstGeom prst="rect">
            <a:avLst/>
          </a:prstGeom>
        </p:spPr>
      </p:pic>
      <p:cxnSp>
        <p:nvCxnSpPr>
          <p:cNvPr id="20" name="직선 연결선 19"/>
          <p:cNvCxnSpPr>
            <a:endCxn id="22" idx="1"/>
          </p:cNvCxnSpPr>
          <p:nvPr/>
        </p:nvCxnSpPr>
        <p:spPr>
          <a:xfrm flipV="1">
            <a:off x="2394857" y="3183147"/>
            <a:ext cx="1038109" cy="109500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54727" y="4700128"/>
            <a:ext cx="2213587" cy="7552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OS 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432966" y="2644538"/>
            <a:ext cx="2247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Class</a:t>
            </a:r>
            <a:r>
              <a:rPr lang="en-US" altLang="ko-KR" sz="1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*</a:t>
            </a:r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A = new Class();</a:t>
            </a:r>
          </a:p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Class</a:t>
            </a:r>
            <a:r>
              <a:rPr lang="en-US" altLang="ko-KR" sz="16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*</a:t>
            </a:r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B = new Class();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B = A;</a:t>
            </a:r>
          </a:p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=&gt; Code </a:t>
            </a:r>
            <a:r>
              <a:rPr lang="ko-KR" altLang="en-US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빌드 후 실행</a:t>
            </a:r>
          </a:p>
        </p:txBody>
      </p:sp>
      <p:sp>
        <p:nvSpPr>
          <p:cNvPr id="23" name="TextBox 34"/>
          <p:cNvSpPr txBox="1"/>
          <p:nvPr/>
        </p:nvSpPr>
        <p:spPr>
          <a:xfrm>
            <a:off x="7758540" y="1388933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App</a:t>
            </a:r>
            <a:endParaRPr lang="ko-KR" altLang="en-US" b="1" dirty="0"/>
          </a:p>
        </p:txBody>
      </p:sp>
      <p:sp>
        <p:nvSpPr>
          <p:cNvPr id="24" name="TextBox 35"/>
          <p:cNvSpPr txBox="1"/>
          <p:nvPr/>
        </p:nvSpPr>
        <p:spPr>
          <a:xfrm>
            <a:off x="7696824" y="199466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Heap</a:t>
            </a:r>
            <a:endParaRPr lang="ko-KR" altLang="en-US" b="1" dirty="0"/>
          </a:p>
        </p:txBody>
      </p:sp>
      <p:cxnSp>
        <p:nvCxnSpPr>
          <p:cNvPr id="25" name="직선 연결선 24"/>
          <p:cNvCxnSpPr>
            <a:stCxn id="5" idx="3"/>
          </p:cNvCxnSpPr>
          <p:nvPr/>
        </p:nvCxnSpPr>
        <p:spPr>
          <a:xfrm flipV="1">
            <a:off x="9292850" y="2402038"/>
            <a:ext cx="831805" cy="37746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오른쪽 화살표 25"/>
          <p:cNvSpPr/>
          <p:nvPr/>
        </p:nvSpPr>
        <p:spPr>
          <a:xfrm>
            <a:off x="5680323" y="3019075"/>
            <a:ext cx="779228" cy="40715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7" name="TextBox 42"/>
          <p:cNvSpPr txBox="1"/>
          <p:nvPr/>
        </p:nvSpPr>
        <p:spPr>
          <a:xfrm>
            <a:off x="6526733" y="4527008"/>
            <a:ext cx="5290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자기가 </a:t>
            </a:r>
            <a:r>
              <a:rPr lang="ko-KR" altLang="en-US" sz="1400" dirty="0" err="1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힙에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생성한 메모리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는 프로그램 내에서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반드시 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자신이 삭제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해야 한다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</a:t>
            </a:r>
            <a:r>
              <a:rPr lang="en-US" altLang="ko-KR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Language)</a:t>
            </a:r>
          </a:p>
          <a:p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A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와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B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동일한 메모리를 가리키고 있으면 하나를 지운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경우에 다른 하나가 접근 시 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crush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발생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메모리를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delete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하지 않으면 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누수가 발생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하게 되고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, 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 누적이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App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자체에 할당된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Heap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메모리를 넘어가면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그 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유명한 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out of memory!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라는 문구와 함께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App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사망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098412" y="2529434"/>
            <a:ext cx="2004772" cy="5066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 A</a:t>
            </a:r>
            <a:r>
              <a:rPr lang="ko-KR" altLang="en-US" sz="1400" dirty="0"/>
              <a:t>가 차지하는 메모리 </a:t>
            </a:r>
          </a:p>
        </p:txBody>
      </p:sp>
      <p:sp>
        <p:nvSpPr>
          <p:cNvPr id="30" name="TextBox 49"/>
          <p:cNvSpPr txBox="1"/>
          <p:nvPr/>
        </p:nvSpPr>
        <p:spPr>
          <a:xfrm>
            <a:off x="10261431" y="2075403"/>
            <a:ext cx="142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Class </a:t>
            </a:r>
            <a:r>
              <a:rPr lang="en-US" altLang="ko-KR" b="1" dirty="0">
                <a:solidFill>
                  <a:srgbClr val="FF0000"/>
                </a:solidFill>
              </a:rPr>
              <a:t>*</a:t>
            </a:r>
            <a:r>
              <a:rPr lang="en-US" altLang="ko-KR" b="1" dirty="0"/>
              <a:t> A</a:t>
            </a:r>
            <a:endParaRPr lang="ko-KR" altLang="en-US" b="1" dirty="0"/>
          </a:p>
        </p:txBody>
      </p:sp>
      <p:sp>
        <p:nvSpPr>
          <p:cNvPr id="31" name="TextBox 50"/>
          <p:cNvSpPr txBox="1"/>
          <p:nvPr/>
        </p:nvSpPr>
        <p:spPr>
          <a:xfrm>
            <a:off x="10227840" y="303482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Class </a:t>
            </a:r>
            <a:r>
              <a:rPr lang="en-US" altLang="ko-KR" b="1" dirty="0">
                <a:solidFill>
                  <a:srgbClr val="FF0000"/>
                </a:solidFill>
              </a:rPr>
              <a:t>*</a:t>
            </a:r>
            <a:r>
              <a:rPr lang="en-US" altLang="ko-KR" b="1" dirty="0"/>
              <a:t> B</a:t>
            </a:r>
            <a:endParaRPr lang="ko-KR" altLang="en-US" b="1" dirty="0"/>
          </a:p>
        </p:txBody>
      </p:sp>
      <p:sp>
        <p:nvSpPr>
          <p:cNvPr id="32" name="타원 31"/>
          <p:cNvSpPr/>
          <p:nvPr/>
        </p:nvSpPr>
        <p:spPr>
          <a:xfrm>
            <a:off x="6493142" y="3278627"/>
            <a:ext cx="3165909" cy="76360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098412" y="3390209"/>
            <a:ext cx="2004772" cy="5066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 B</a:t>
            </a:r>
            <a:r>
              <a:rPr lang="ko-KR" altLang="en-US" sz="1400" dirty="0"/>
              <a:t>가 차지하는 메모리 </a:t>
            </a:r>
          </a:p>
        </p:txBody>
      </p:sp>
      <p:sp>
        <p:nvSpPr>
          <p:cNvPr id="35" name="TextBox 56"/>
          <p:cNvSpPr txBox="1"/>
          <p:nvPr/>
        </p:nvSpPr>
        <p:spPr>
          <a:xfrm>
            <a:off x="3193453" y="5043477"/>
            <a:ext cx="2728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접근이 불가</a:t>
            </a:r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..</a:t>
            </a:r>
          </a:p>
          <a:p>
            <a:r>
              <a:rPr lang="ko-KR" altLang="en-US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메모리를 지울 수가 없다</a:t>
            </a:r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  <a:endParaRPr lang="ko-KR" altLang="en-US" sz="16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2. </a:t>
            </a:r>
            <a:r>
              <a:rPr lang="en-US" altLang="ko-KR" sz="28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예시와 동작 원리</a:t>
            </a:r>
            <a:b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</a:b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cxnSp>
        <p:nvCxnSpPr>
          <p:cNvPr id="36" name="직선 연결선 35"/>
          <p:cNvCxnSpPr>
            <a:stCxn id="35" idx="0"/>
            <a:endCxn id="32" idx="2"/>
          </p:cNvCxnSpPr>
          <p:nvPr/>
        </p:nvCxnSpPr>
        <p:spPr>
          <a:xfrm flipV="1">
            <a:off x="4557641" y="3660428"/>
            <a:ext cx="1935501" cy="138304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90878" y="5646176"/>
            <a:ext cx="4279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이러한 현상을 </a:t>
            </a:r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OOOOO</a:t>
            </a:r>
            <a:r>
              <a:rPr lang="ko-KR" altLang="en-US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라고 한다</a:t>
            </a:r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</a:p>
          <a:p>
            <a:r>
              <a:rPr lang="en-US" altLang="ko-KR" sz="2400" b="1" dirty="0">
                <a:solidFill>
                  <a:srgbClr val="7030A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# </a:t>
            </a:r>
            <a:r>
              <a:rPr lang="ko-KR" altLang="en-US" sz="2400" b="1" dirty="0">
                <a:solidFill>
                  <a:srgbClr val="7030A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맞추면 커피 쿠폰 </a:t>
            </a:r>
            <a:r>
              <a:rPr lang="en-US" altLang="ko-KR" sz="2400" b="1" dirty="0">
                <a:solidFill>
                  <a:srgbClr val="7030A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#</a:t>
            </a:r>
            <a:endParaRPr lang="ko-KR" altLang="en-US" sz="2400" b="1" dirty="0">
              <a:solidFill>
                <a:srgbClr val="7030A0"/>
              </a:solidFill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103184" y="2524039"/>
            <a:ext cx="189666" cy="5109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9096742" y="3390454"/>
            <a:ext cx="189666" cy="5109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 rot="5803111">
            <a:off x="9002294" y="2111897"/>
            <a:ext cx="497812" cy="27302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292850" y="1431385"/>
            <a:ext cx="2471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포인터 </a:t>
            </a:r>
            <a:endParaRPr lang="en-US" altLang="ko-KR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(4byte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값 메모리 주소</a:t>
            </a:r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)</a:t>
            </a:r>
            <a:endParaRPr lang="ko-KR" altLang="en-US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cxnSp>
        <p:nvCxnSpPr>
          <p:cNvPr id="38" name="직선 연결선 37"/>
          <p:cNvCxnSpPr>
            <a:stCxn id="5" idx="3"/>
          </p:cNvCxnSpPr>
          <p:nvPr/>
        </p:nvCxnSpPr>
        <p:spPr>
          <a:xfrm>
            <a:off x="9292850" y="2779503"/>
            <a:ext cx="863128" cy="43998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10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그림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24" y="3171299"/>
            <a:ext cx="2232354" cy="1822821"/>
          </a:xfrm>
          <a:prstGeom prst="rect">
            <a:avLst/>
          </a:prstGeom>
        </p:spPr>
      </p:pic>
      <p:cxnSp>
        <p:nvCxnSpPr>
          <p:cNvPr id="60" name="직선 연결선 59"/>
          <p:cNvCxnSpPr>
            <a:endCxn id="77" idx="1"/>
          </p:cNvCxnSpPr>
          <p:nvPr/>
        </p:nvCxnSpPr>
        <p:spPr>
          <a:xfrm flipV="1">
            <a:off x="2036559" y="2174837"/>
            <a:ext cx="1266493" cy="163974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858266" y="5033104"/>
            <a:ext cx="2156512" cy="683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OS </a:t>
            </a:r>
            <a:endParaRPr lang="ko-KR" altLang="en-US" dirty="0"/>
          </a:p>
        </p:txBody>
      </p:sp>
      <p:sp>
        <p:nvSpPr>
          <p:cNvPr id="62" name="TextBox 15"/>
          <p:cNvSpPr txBox="1"/>
          <p:nvPr/>
        </p:nvSpPr>
        <p:spPr>
          <a:xfrm>
            <a:off x="3166703" y="4837693"/>
            <a:ext cx="2573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B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기존에 가지고 있던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메모리를 잃어버리면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VM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내부의 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Garbage Collector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그 주소를 보관하고 있다가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일정 시간이 지나면 자동으로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삭제한다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</a:t>
            </a:r>
            <a:endParaRPr lang="ko-KR" altLang="en-US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526230" y="1320444"/>
            <a:ext cx="2868373" cy="31354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6707785" y="1899274"/>
            <a:ext cx="2480084" cy="232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5" name="TextBox 18"/>
          <p:cNvSpPr txBox="1"/>
          <p:nvPr/>
        </p:nvSpPr>
        <p:spPr>
          <a:xfrm>
            <a:off x="7555956" y="1399328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App</a:t>
            </a:r>
            <a:endParaRPr lang="ko-KR" altLang="en-US" b="1" dirty="0"/>
          </a:p>
        </p:txBody>
      </p:sp>
      <p:sp>
        <p:nvSpPr>
          <p:cNvPr id="66" name="TextBox 19"/>
          <p:cNvSpPr txBox="1"/>
          <p:nvPr/>
        </p:nvSpPr>
        <p:spPr>
          <a:xfrm>
            <a:off x="7494241" y="2104417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Heap</a:t>
            </a:r>
            <a:endParaRPr lang="ko-KR" altLang="en-US" b="1" dirty="0"/>
          </a:p>
        </p:txBody>
      </p:sp>
      <p:cxnSp>
        <p:nvCxnSpPr>
          <p:cNvPr id="67" name="직선 연결선 66"/>
          <p:cNvCxnSpPr/>
          <p:nvPr/>
        </p:nvCxnSpPr>
        <p:spPr>
          <a:xfrm flipV="1">
            <a:off x="8252782" y="1677545"/>
            <a:ext cx="1544892" cy="95520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오른쪽 화살표 67"/>
          <p:cNvSpPr/>
          <p:nvPr/>
        </p:nvSpPr>
        <p:spPr>
          <a:xfrm>
            <a:off x="5516861" y="2048392"/>
            <a:ext cx="779228" cy="40715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9" name="TextBox 22"/>
          <p:cNvSpPr txBox="1"/>
          <p:nvPr/>
        </p:nvSpPr>
        <p:spPr>
          <a:xfrm>
            <a:off x="6209003" y="4534776"/>
            <a:ext cx="68236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자기가 </a:t>
            </a:r>
            <a:r>
              <a:rPr lang="ko-KR" altLang="en-US" sz="14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힙에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생성한 메모리는 특별히 지우지 않더라도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함수 블록이 지나가면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알아서 삭제된다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 (Managed Language)</a:t>
            </a:r>
          </a:p>
          <a:p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VM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내부의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Garbage Collector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특정 조건이 되면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잃어버린 메모리를 알아서 삭제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 Language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는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delete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존재하지 않으므로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객체가 공유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되어도 사용에서는 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큰 문제가 발생하지 않는다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. 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멀티 </a:t>
            </a:r>
            <a:r>
              <a:rPr lang="ko-KR" altLang="en-US" sz="1400" dirty="0" err="1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쓰레드</a:t>
            </a:r>
            <a:r>
              <a:rPr lang="ko-KR" altLang="en-US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제외</a:t>
            </a:r>
            <a:r>
              <a:rPr lang="en-US" altLang="ko-KR" sz="1400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)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6937330" y="2632748"/>
            <a:ext cx="2004772" cy="5066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 A</a:t>
            </a:r>
            <a:r>
              <a:rPr lang="ko-KR" altLang="en-US" sz="1400" dirty="0"/>
              <a:t>가 차지하는 메모리 </a:t>
            </a:r>
          </a:p>
        </p:txBody>
      </p:sp>
      <p:cxnSp>
        <p:nvCxnSpPr>
          <p:cNvPr id="71" name="직선 연결선 70"/>
          <p:cNvCxnSpPr/>
          <p:nvPr/>
        </p:nvCxnSpPr>
        <p:spPr>
          <a:xfrm flipV="1">
            <a:off x="8482222" y="2155148"/>
            <a:ext cx="1315452" cy="51790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25"/>
          <p:cNvSpPr txBox="1"/>
          <p:nvPr/>
        </p:nvSpPr>
        <p:spPr>
          <a:xfrm>
            <a:off x="9797674" y="1410930"/>
            <a:ext cx="142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Class A</a:t>
            </a:r>
            <a:endParaRPr lang="ko-KR" altLang="en-US" b="1" dirty="0"/>
          </a:p>
        </p:txBody>
      </p:sp>
      <p:sp>
        <p:nvSpPr>
          <p:cNvPr id="73" name="TextBox 26"/>
          <p:cNvSpPr txBox="1"/>
          <p:nvPr/>
        </p:nvSpPr>
        <p:spPr>
          <a:xfrm>
            <a:off x="9834270" y="196523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Class B</a:t>
            </a:r>
            <a:endParaRPr lang="ko-KR" altLang="en-US" b="1" dirty="0"/>
          </a:p>
        </p:txBody>
      </p:sp>
      <p:sp>
        <p:nvSpPr>
          <p:cNvPr id="74" name="타원 73"/>
          <p:cNvSpPr/>
          <p:nvPr/>
        </p:nvSpPr>
        <p:spPr>
          <a:xfrm>
            <a:off x="6309744" y="3267759"/>
            <a:ext cx="3165909" cy="76360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6937330" y="3409709"/>
            <a:ext cx="2004772" cy="5066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 B</a:t>
            </a:r>
            <a:r>
              <a:rPr lang="ko-KR" altLang="en-US" sz="1400" dirty="0"/>
              <a:t>가 차지하는 메모리 </a:t>
            </a:r>
          </a:p>
        </p:txBody>
      </p:sp>
      <p:cxnSp>
        <p:nvCxnSpPr>
          <p:cNvPr id="76" name="직선 연결선 75"/>
          <p:cNvCxnSpPr>
            <a:endCxn id="74" idx="2"/>
          </p:cNvCxnSpPr>
          <p:nvPr/>
        </p:nvCxnSpPr>
        <p:spPr>
          <a:xfrm flipV="1">
            <a:off x="2998712" y="3649560"/>
            <a:ext cx="3311032" cy="104744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32"/>
          <p:cNvSpPr txBox="1"/>
          <p:nvPr/>
        </p:nvSpPr>
        <p:spPr>
          <a:xfrm>
            <a:off x="3303052" y="1636228"/>
            <a:ext cx="23008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Class A = new Class();</a:t>
            </a:r>
          </a:p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Class B = new Class();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B = A;</a:t>
            </a:r>
          </a:p>
          <a:p>
            <a:r>
              <a:rPr lang="en-US" altLang="ko-KR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=&gt; Code </a:t>
            </a:r>
            <a:r>
              <a:rPr lang="ko-KR" altLang="en-US" sz="16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빌드 후 실행</a:t>
            </a:r>
          </a:p>
        </p:txBody>
      </p:sp>
      <p:cxnSp>
        <p:nvCxnSpPr>
          <p:cNvPr id="78" name="직선 연결선 77"/>
          <p:cNvCxnSpPr>
            <a:endCxn id="79" idx="1"/>
          </p:cNvCxnSpPr>
          <p:nvPr/>
        </p:nvCxnSpPr>
        <p:spPr>
          <a:xfrm flipV="1">
            <a:off x="2223883" y="3326603"/>
            <a:ext cx="1190768" cy="112928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38"/>
          <p:cNvSpPr txBox="1"/>
          <p:nvPr/>
        </p:nvSpPr>
        <p:spPr>
          <a:xfrm>
            <a:off x="3414651" y="2741827"/>
            <a:ext cx="28950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쓰여진 코드를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byte code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로 변환 후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VM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이 실행 가능한 모든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OS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에서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동작 가능하게 만든 중간 단계 머신 </a:t>
            </a:r>
            <a:endParaRPr lang="en-US" altLang="ko-KR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Ex) Java :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자바 가상 머신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(JVM)</a:t>
            </a:r>
          </a:p>
          <a:p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 C# :  </a:t>
            </a:r>
            <a:r>
              <a:rPr lang="ko-KR" altLang="en-US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공통언어런타임 </a:t>
            </a:r>
            <a:r>
              <a:rPr lang="en-US" altLang="ko-KR" sz="1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(CLR)</a:t>
            </a:r>
            <a:endParaRPr lang="ko-KR" altLang="en-US" sz="14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3. Managed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예시와 동작 원리</a:t>
            </a:r>
            <a:b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</a:b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67670" y="2586276"/>
            <a:ext cx="2471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 메모리 주소를 통하지</a:t>
            </a:r>
            <a:endParaRPr lang="en-US" altLang="ko-KR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r>
              <a:rPr lang="en-US" altLang="ko-KR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 </a:t>
            </a:r>
            <a:r>
              <a:rPr lang="ko-KR" altLang="en-US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않고 직접 값을 접근</a:t>
            </a:r>
          </a:p>
        </p:txBody>
      </p:sp>
    </p:spTree>
    <p:extLst>
      <p:ext uri="{BB962C8B-B14F-4D97-AF65-F5344CB8AC3E}">
        <p14:creationId xmlns:p14="http://schemas.microsoft.com/office/powerpoint/2010/main" val="272107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528761" y="2802927"/>
            <a:ext cx="3265638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Language</a:t>
            </a: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686029" y="2802927"/>
            <a:ext cx="3704860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Language</a:t>
            </a: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86029" y="3525494"/>
            <a:ext cx="3450866" cy="156966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 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C++ 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Rust 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Objective-C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436147" y="3525493"/>
            <a:ext cx="3450866" cy="156966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JAVA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Python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C#</a:t>
            </a:r>
          </a:p>
          <a:p>
            <a:pPr algn="ctr"/>
            <a:r>
              <a:rPr lang="en-US" altLang="ko-KR" sz="24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Ruby 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4. Managed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Language / </a:t>
            </a:r>
            <a:r>
              <a:rPr lang="en-US" altLang="ko-KR" sz="2800" dirty="0" err="1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의 예시</a:t>
            </a:r>
            <a:b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</a:br>
            <a:endParaRPr lang="ko-KR" altLang="en-US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618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결론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25358" y="1664833"/>
            <a:ext cx="103906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구현에 필요한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환경과 용도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에 따라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적절한 언어를 선택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하는 것이 중요</a:t>
            </a: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Compact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한 메모리 관리가 필요하고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빠른 연산이 필요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한 경우 </a:t>
            </a:r>
            <a:r>
              <a:rPr lang="en-US" altLang="ko-KR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Unmanaged 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적합</a:t>
            </a: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메모리 제약이 크지 않고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대용량 서비스를 안정성 있게 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다루어야 하는 경우 </a:t>
            </a:r>
            <a:r>
              <a:rPr lang="en-US" altLang="ko-KR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Managed Language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가 적합</a:t>
            </a: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두 언어들의 차이에 대한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올바른 이해와 사용 경험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이 있다면</a:t>
            </a:r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, </a:t>
            </a:r>
          </a:p>
          <a:p>
            <a:pPr lvl="0"/>
            <a:r>
              <a:rPr lang="en-US" altLang="ko-KR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    </a:t>
            </a:r>
            <a:r>
              <a:rPr lang="ko-KR" altLang="en-US" sz="2800" b="1" dirty="0">
                <a:solidFill>
                  <a:srgbClr val="FF0000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프로그래밍 확장성</a:t>
            </a:r>
            <a:r>
              <a:rPr lang="ko-KR" altLang="en-US" sz="2800" dirty="0"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에 큰 도움이 됨</a:t>
            </a:r>
            <a:endParaRPr lang="en-US" altLang="ko-KR" sz="28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575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8220" t="18155" r="33236" b="6169"/>
          <a:stretch/>
        </p:blipFill>
        <p:spPr>
          <a:xfrm>
            <a:off x="1100829" y="3703889"/>
            <a:ext cx="3116063" cy="2732421"/>
          </a:xfrm>
          <a:prstGeom prst="rect">
            <a:avLst/>
          </a:prstGeom>
        </p:spPr>
      </p:pic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Q&amp;A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D5E65-D4DE-423F-A94A-7530982D7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129" y="2006348"/>
            <a:ext cx="22955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06478" y="1052513"/>
            <a:ext cx="3519647" cy="1785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400" spc="-300" dirty="0">
                <a:solidFill>
                  <a:prstClr val="white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2</a:t>
            </a:r>
            <a:r>
              <a:rPr lang="ko-KR" altLang="en-US" sz="4400" spc="-300" dirty="0">
                <a:solidFill>
                  <a:prstClr val="white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학기 심화과정</a:t>
            </a:r>
            <a:endParaRPr lang="en-US" altLang="ko-KR" sz="4400" spc="-300" dirty="0">
              <a:solidFill>
                <a:prstClr val="white"/>
              </a:solidFill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  <a:p>
            <a:pPr algn="ctr"/>
            <a:r>
              <a:rPr lang="ko-KR" altLang="en-US" sz="7200" spc="-300" dirty="0">
                <a:solidFill>
                  <a:prstClr val="white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</a:rPr>
              <a:t>평가 안내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006478" y="2837617"/>
            <a:ext cx="3468847" cy="400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Sub - PJT Ⅲ </a:t>
            </a:r>
            <a:r>
              <a:rPr lang="ko-KR" altLang="en-US" sz="24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최종 평가하기</a:t>
            </a:r>
          </a:p>
        </p:txBody>
      </p:sp>
    </p:spTree>
    <p:extLst>
      <p:ext uri="{BB962C8B-B14F-4D97-AF65-F5344CB8AC3E}">
        <p14:creationId xmlns:p14="http://schemas.microsoft.com/office/powerpoint/2010/main" val="349290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평가 항목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626188" y="1530812"/>
          <a:ext cx="10350308" cy="45170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7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3185">
                  <a:extLst>
                    <a:ext uri="{9D8B030D-6E8A-4147-A177-3AD203B41FA5}">
                      <a16:colId xmlns:a16="http://schemas.microsoft.com/office/drawing/2014/main" val="1033603642"/>
                    </a:ext>
                  </a:extLst>
                </a:gridCol>
                <a:gridCol w="2373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3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3185">
                  <a:extLst>
                    <a:ext uri="{9D8B030D-6E8A-4147-A177-3AD203B41FA5}">
                      <a16:colId xmlns:a16="http://schemas.microsoft.com/office/drawing/2014/main" val="2872973667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공통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/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특화 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Sub -PJT 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Sub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-PJT Ⅱ &amp; </a:t>
                      </a: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자율 중간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공통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/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특화 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Sub - PJT Ⅲ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중간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Sub - PJT Ⅲ 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최종 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&amp; 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자율 최종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46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프로젝트의 주제</a:t>
                      </a:r>
                      <a:r>
                        <a:rPr lang="en-US" altLang="ko-KR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특징을 파악하고</a:t>
                      </a:r>
                      <a:endParaRPr lang="en-US" altLang="ko-KR" sz="12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필요한 학습 및</a:t>
                      </a:r>
                      <a:r>
                        <a:rPr lang="ko-KR" altLang="en-US" sz="12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 개인 프로젝트를 </a:t>
                      </a:r>
                      <a:endParaRPr lang="en-US" altLang="ko-KR" sz="1200" b="1" kern="0" spc="-150" baseline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충실히 수행하였는지 평가</a:t>
                      </a:r>
                      <a:endParaRPr lang="en-US" altLang="ko-KR" sz="12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팀 프로젝트의 기획</a:t>
                      </a:r>
                      <a:r>
                        <a:rPr lang="ko-KR" altLang="en-US" sz="12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및 설계에 대한 평가</a:t>
                      </a:r>
                      <a:endParaRPr lang="ko-KR" altLang="en-US" sz="12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진행 상황에 대한 점검 및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결과물에 대한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487464"/>
                  </a:ext>
                </a:extLst>
              </a:tr>
              <a:tr h="1391478"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/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/>
                      <a:r>
                        <a:rPr lang="ko-KR" altLang="en-US" sz="18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수행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/>
                      <a:r>
                        <a:rPr lang="ko-KR" altLang="en-US" sz="18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상호</a:t>
                      </a:r>
                      <a:r>
                        <a:rPr lang="ko-KR" altLang="en-US" sz="14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898256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algn="ctr" latinLnBrk="1"/>
                      <a:r>
                        <a:rPr lang="ko-KR" altLang="en-US" sz="18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  <a:r>
                        <a:rPr lang="ko-KR" altLang="en-US" sz="14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400" b="1" kern="0" spc="-30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962361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2239789" y="2747854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50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048653" y="2744500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팀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50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15934" y="2746177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rgbClr val="0070C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rgbClr val="0070C0"/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09782" y="2746177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rgbClr val="0070C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rgbClr val="0070C0"/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0003630" y="2746177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rgbClr val="0070C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rgbClr val="0070C0"/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410933" y="2744499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rgbClr val="0070C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팀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rgbClr val="0070C0"/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786610" y="2744499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rgbClr val="0070C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팀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rgbClr val="0070C0"/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580972" y="3195297"/>
            <a:ext cx="9288335" cy="2796696"/>
            <a:chOff x="1875630" y="3052846"/>
            <a:chExt cx="9288335" cy="326136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1885349" y="3061111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요구사항 분석</a:t>
              </a: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255584" y="5157549"/>
              <a:ext cx="1008000" cy="324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주제</a:t>
              </a:r>
              <a:r>
                <a:rPr lang="en-US" altLang="ko-KR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아이디어</a:t>
              </a:r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3145479" y="3052846"/>
              <a:ext cx="864000" cy="944574"/>
            </a:xfrm>
            <a:prstGeom prst="roundRect">
              <a:avLst>
                <a:gd name="adj" fmla="val 62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의사소통</a:t>
              </a:r>
              <a:endParaRPr lang="en-US" altLang="ko-KR" sz="1000" b="1" kern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협업</a:t>
              </a:r>
              <a:r>
                <a:rPr lang="en-US" altLang="ko-KR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참여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1885349" y="3414479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SW </a:t>
              </a:r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개발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1875630" y="4231157"/>
              <a:ext cx="1008000" cy="324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프로그래밍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5510592" y="3061111"/>
              <a:ext cx="864000" cy="944574"/>
            </a:xfrm>
            <a:prstGeom prst="roundRect">
              <a:avLst>
                <a:gd name="adj" fmla="val 62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의사소통</a:t>
              </a:r>
              <a:endParaRPr lang="en-US" altLang="ko-KR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협업</a:t>
              </a:r>
              <a:r>
                <a:rPr lang="en-US" altLang="ko-KR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참여</a:t>
              </a: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7904440" y="3061111"/>
              <a:ext cx="864000" cy="944574"/>
            </a:xfrm>
            <a:prstGeom prst="roundRect">
              <a:avLst>
                <a:gd name="adj" fmla="val 62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의사소통</a:t>
              </a:r>
              <a:endParaRPr lang="en-US" altLang="ko-KR" sz="1000" b="1" kern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협업</a:t>
              </a:r>
              <a:r>
                <a:rPr lang="en-US" altLang="ko-KR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참여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grpSp>
          <p:nvGrpSpPr>
            <p:cNvPr id="38" name="그룹 37"/>
            <p:cNvGrpSpPr/>
            <p:nvPr/>
          </p:nvGrpSpPr>
          <p:grpSpPr>
            <a:xfrm>
              <a:off x="3152169" y="4206946"/>
              <a:ext cx="8011796" cy="739961"/>
              <a:chOff x="3152169" y="3957564"/>
              <a:chExt cx="8011796" cy="1098617"/>
            </a:xfrm>
            <a:effectLst/>
          </p:grpSpPr>
          <p:sp>
            <p:nvSpPr>
              <p:cNvPr id="53" name="모서리가 둥근 직사각형 52"/>
              <p:cNvSpPr/>
              <p:nvPr/>
            </p:nvSpPr>
            <p:spPr>
              <a:xfrm>
                <a:off x="3152169" y="3957564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기여도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4" name="모서리가 둥근 직사각형 53"/>
              <p:cNvSpPr/>
              <p:nvPr/>
            </p:nvSpPr>
            <p:spPr>
              <a:xfrm>
                <a:off x="3153846" y="4542040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학습태도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5" name="모서리가 둥근 직사각형 54"/>
              <p:cNvSpPr/>
              <p:nvPr/>
            </p:nvSpPr>
            <p:spPr>
              <a:xfrm>
                <a:off x="5510592" y="3967705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기여도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6" name="모서리가 둥근 직사각형 55"/>
              <p:cNvSpPr/>
              <p:nvPr/>
            </p:nvSpPr>
            <p:spPr>
              <a:xfrm>
                <a:off x="5512269" y="4552181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학습태도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7" name="모서리가 둥근 직사각형 56"/>
              <p:cNvSpPr/>
              <p:nvPr/>
            </p:nvSpPr>
            <p:spPr>
              <a:xfrm>
                <a:off x="7904440" y="3967705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기여도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7906117" y="4552181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학습태도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59" name="모서리가 둥근 직사각형 58"/>
              <p:cNvSpPr/>
              <p:nvPr/>
            </p:nvSpPr>
            <p:spPr>
              <a:xfrm>
                <a:off x="10298288" y="3967705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기여도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  <p:sp>
            <p:nvSpPr>
              <p:cNvPr id="60" name="모서리가 둥근 직사각형 59"/>
              <p:cNvSpPr/>
              <p:nvPr/>
            </p:nvSpPr>
            <p:spPr>
              <a:xfrm>
                <a:off x="10299965" y="4552181"/>
                <a:ext cx="864000" cy="504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 kern="0">
                    <a:ln w="0"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Arial"/>
                  </a:rPr>
                  <a:t>학습태도</a:t>
                </a:r>
                <a:endPara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endParaRPr>
              </a:p>
            </p:txBody>
          </p:sp>
        </p:grpSp>
        <p:sp>
          <p:nvSpPr>
            <p:cNvPr id="39" name="모서리가 둥근 직사각형 38"/>
            <p:cNvSpPr/>
            <p:nvPr/>
          </p:nvSpPr>
          <p:spPr>
            <a:xfrm>
              <a:off x="10298288" y="3061111"/>
              <a:ext cx="864000" cy="944574"/>
            </a:xfrm>
            <a:prstGeom prst="roundRect">
              <a:avLst>
                <a:gd name="adj" fmla="val 62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의사소통</a:t>
              </a:r>
              <a:endParaRPr lang="en-US" altLang="ko-KR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협업</a:t>
              </a:r>
              <a:r>
                <a:rPr lang="en-US" altLang="ko-KR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참여</a:t>
              </a: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237813" y="3065160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요구사항 분석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4237813" y="3414479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SW </a:t>
              </a:r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개발</a:t>
              </a: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6622268" y="3054362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요구사항 분석</a:t>
              </a: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6622268" y="3403681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SW </a:t>
              </a:r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개발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6622268" y="3739722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프로젝트 완성도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8996675" y="3052846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요구사항 분석</a:t>
              </a: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8996675" y="3402165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SW </a:t>
              </a:r>
              <a:r>
                <a:rPr lang="ko-KR" altLang="en-US" sz="1000" b="1" kern="0" dirty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개발</a:t>
              </a: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8996675" y="3738206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프로젝트 완성도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4255584" y="5558632"/>
              <a:ext cx="1008000" cy="324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기획</a:t>
              </a:r>
              <a:r>
                <a:rPr lang="en-US" altLang="ko-KR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/</a:t>
              </a:r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설계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9005175" y="5075253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창의성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9005175" y="5393136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실용성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9005175" y="6026211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산출물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9005175" y="5705749"/>
              <a:ext cx="1008000" cy="288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kern="0">
                  <a:ln w="0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Arial"/>
                </a:rPr>
                <a:t>사용성</a:t>
              </a:r>
              <a:endParaRPr lang="ko-KR" altLang="en-US" sz="10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endParaRPr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2750168" y="1273660"/>
            <a:ext cx="106530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0">
              <a:spcAft>
                <a:spcPts val="600"/>
              </a:spcAft>
              <a:defRPr/>
            </a:pPr>
            <a:r>
              <a:rPr lang="en-US" altLang="ko-KR" sz="1100" b="1" i="1" kern="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1,5</a:t>
            </a:r>
            <a:r>
              <a:rPr lang="ko-KR" altLang="en-US" sz="1100" b="1" i="1" kern="0" dirty="0" err="1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회차</a:t>
            </a:r>
            <a:endParaRPr lang="en-US" altLang="ko-KR" sz="1100" b="1" i="1" kern="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4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115281" y="1273660"/>
            <a:ext cx="106530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0">
              <a:spcAft>
                <a:spcPts val="600"/>
              </a:spcAft>
              <a:defRPr/>
            </a:pPr>
            <a:r>
              <a:rPr lang="en-US" altLang="ko-KR" sz="1100" b="1" i="1" kern="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2,6,9</a:t>
            </a:r>
            <a:r>
              <a:rPr lang="ko-KR" altLang="en-US" sz="1100" b="1" i="1" kern="0" dirty="0" err="1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회차</a:t>
            </a:r>
            <a:endParaRPr lang="en-US" altLang="ko-KR" sz="1100" b="1" i="1" kern="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4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509129" y="1273660"/>
            <a:ext cx="106530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0">
              <a:spcAft>
                <a:spcPts val="600"/>
              </a:spcAft>
              <a:defRPr/>
            </a:pPr>
            <a:r>
              <a:rPr lang="en-US" altLang="ko-KR" sz="1100" b="1" i="1" kern="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3,7</a:t>
            </a:r>
            <a:r>
              <a:rPr lang="ko-KR" altLang="en-US" sz="1100" b="1" i="1" kern="0" dirty="0" err="1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회차</a:t>
            </a:r>
            <a:endParaRPr lang="en-US" altLang="ko-KR" sz="1100" b="1" i="1" kern="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4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902977" y="1273660"/>
            <a:ext cx="106530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0">
              <a:spcAft>
                <a:spcPts val="600"/>
              </a:spcAft>
              <a:defRPr/>
            </a:pPr>
            <a:r>
              <a:rPr lang="en-US" altLang="ko-KR" sz="1100" b="1" i="1" kern="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4,8,10</a:t>
            </a:r>
            <a:r>
              <a:rPr lang="ko-KR" altLang="en-US" sz="1100" b="1" i="1" kern="0" dirty="0" err="1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4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회차</a:t>
            </a:r>
            <a:endParaRPr lang="en-US" altLang="ko-KR" sz="1100" b="1" i="1" kern="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4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215934" y="2746178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7609782" y="2746178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0003630" y="2746178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개인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410933" y="2744500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팀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786610" y="2744500"/>
            <a:ext cx="7970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spcAft>
                <a:spcPts val="600"/>
              </a:spcAft>
              <a:defRPr/>
            </a:pPr>
            <a:r>
              <a:rPr lang="ko-KR" altLang="en-US" sz="10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팀 점수</a:t>
            </a:r>
            <a:endParaRPr lang="en-US" altLang="ko-KR" sz="1000" b="1" kern="0" spc="-100" dirty="0">
              <a:ln>
                <a:solidFill>
                  <a:srgbClr val="9BBB59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8608006" y="1530812"/>
            <a:ext cx="2366546" cy="453645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46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프로젝트 상호 평가 </a:t>
            </a:r>
            <a:r>
              <a:rPr lang="en-US" altLang="ko-KR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(</a:t>
            </a:r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팀 내</a:t>
            </a:r>
            <a:r>
              <a:rPr lang="en-US" altLang="ko-KR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)</a:t>
            </a:r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323932" y="1470771"/>
            <a:ext cx="888119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 시간 내</a:t>
            </a:r>
            <a: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,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여러분들은 </a:t>
            </a:r>
            <a:r>
              <a:rPr lang="ko-KR" altLang="en-US" sz="24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우리 팀의 팀원들에 대한 상호평가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를 진행합니다</a:t>
            </a:r>
            <a: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. </a:t>
            </a:r>
            <a:endParaRPr lang="ko-KR" altLang="en-US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829853" y="2655659"/>
            <a:ext cx="731402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같은 팀의 팀원들을 대상으로 평가 진행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 입력 시</a:t>
            </a:r>
            <a: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, </a:t>
            </a:r>
            <a:r>
              <a:rPr lang="ko-KR" altLang="en-US" sz="1800" b="1" kern="0" spc="-151" dirty="0" err="1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평가근거</a:t>
            </a:r>
            <a:r>
              <a:rPr lang="ko-KR" altLang="en-US" sz="1800" dirty="0">
                <a:solidFill>
                  <a:prstClr val="black">
                    <a:lumMod val="85000"/>
                    <a:lumOff val="1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도 반드시 같이 기입 필요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 완료 시 수정이 불가 </a:t>
            </a:r>
            <a:r>
              <a:rPr lang="ko-KR" altLang="en-US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하므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로 신중한 평가 필요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최고점 부여 제한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이 있음으로 유의해서 평가 필요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956582" y="4514545"/>
            <a:ext cx="606901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⇒ 항목별 </a:t>
            </a:r>
            <a:r>
              <a:rPr lang="en-US" altLang="ko-KR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“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매우 우수</a:t>
            </a:r>
            <a:r>
              <a:rPr lang="en-US" altLang="ko-KR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“ 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평가는 </a:t>
            </a:r>
            <a:r>
              <a:rPr lang="ko-KR" altLang="en-US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최대 </a:t>
            </a:r>
            <a:r>
              <a:rPr lang="en-US" altLang="ko-KR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1</a:t>
            </a:r>
            <a:r>
              <a:rPr lang="ko-KR" altLang="en-US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명만 부여 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가능</a:t>
            </a:r>
            <a:endParaRPr lang="en-US" altLang="ko-KR" sz="1600" b="1" kern="0" spc="-150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377" y="2454905"/>
            <a:ext cx="30765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55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 err="1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상호평가</a:t>
            </a:r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 항목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1128706" y="3822730"/>
            <a:ext cx="1186711" cy="556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ko-KR" altLang="en-US" sz="16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평가 보기</a:t>
            </a: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1267596" y="4248153"/>
          <a:ext cx="9535705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4239">
                  <a:extLst>
                    <a:ext uri="{9D8B030D-6E8A-4147-A177-3AD203B41FA5}">
                      <a16:colId xmlns:a16="http://schemas.microsoft.com/office/drawing/2014/main" val="207560588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부족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내용에 충족하지 못함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99196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평균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C00000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내용에 어느정도 충족함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288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양호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상당 수 충족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9423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우수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모두 충족하며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결과물</a:t>
                      </a:r>
                      <a:r>
                        <a:rPr lang="en-US" altLang="ko-KR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역량</a:t>
                      </a:r>
                      <a:r>
                        <a:rPr lang="en-US" altLang="ko-KR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태도가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우수한 수준임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C00000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739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매우 우수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모두 충족하고 결과물이 우수하며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독보적인 역량과 태도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를 나타냄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27478"/>
                  </a:ext>
                </a:extLst>
              </a:tr>
            </a:tbl>
          </a:graphicData>
        </a:graphic>
      </p:graphicFrame>
      <p:sp>
        <p:nvSpPr>
          <p:cNvPr id="75" name="직사각형 74"/>
          <p:cNvSpPr/>
          <p:nvPr/>
        </p:nvSpPr>
        <p:spPr>
          <a:xfrm>
            <a:off x="8811055" y="5773828"/>
            <a:ext cx="13019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* </a:t>
            </a:r>
            <a:r>
              <a:rPr lang="ko-KR" altLang="en-US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최대 </a:t>
            </a:r>
            <a:r>
              <a:rPr lang="en-US" altLang="ko-KR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1</a:t>
            </a:r>
            <a:r>
              <a:rPr lang="ko-KR" altLang="en-US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명만 부여 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267596" y="1399116"/>
          <a:ext cx="9535705" cy="228460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9304">
                  <a:extLst>
                    <a:ext uri="{9D8B030D-6E8A-4147-A177-3AD203B41FA5}">
                      <a16:colId xmlns:a16="http://schemas.microsoft.com/office/drawing/2014/main" val="2057270439"/>
                    </a:ext>
                  </a:extLst>
                </a:gridCol>
                <a:gridCol w="147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24">
                  <a:extLst>
                    <a:ext uri="{9D8B030D-6E8A-4147-A177-3AD203B41FA5}">
                      <a16:colId xmlns:a16="http://schemas.microsoft.com/office/drawing/2014/main" val="10336036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75605882"/>
                    </a:ext>
                  </a:extLst>
                </a:gridCol>
              </a:tblGrid>
              <a:tr h="4014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 문항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142"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8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상호</a:t>
                      </a:r>
                      <a:r>
                        <a:rPr lang="ko-KR" altLang="en-US" sz="14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기여도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필요한 기술 요소를 먼저 선행학습 후 팀원들에게 전파하였는가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</a:p>
                    <a:p>
                      <a:pPr marL="108000" marR="0" indent="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팀의 일원으로써 프로젝트 진행에 많은 기여를 하였는가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진행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팀 미팅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991960"/>
                  </a:ext>
                </a:extLst>
              </a:tr>
              <a:tr h="90097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학습태도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프로젝트에 집중하고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팀원 간 원활한 소통과 긴밀한 협력관계를 유지하였는가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</a:p>
                    <a:p>
                      <a:pPr marL="108000" marR="0" indent="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프로젝트의 취지와 내용을 이해하고 목표의식을 갖고 임하였는가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진행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팀 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27478"/>
                  </a:ext>
                </a:extLst>
              </a:tr>
            </a:tbl>
          </a:graphicData>
        </a:graphic>
      </p:graphicFrame>
      <p:sp>
        <p:nvSpPr>
          <p:cNvPr id="9" name="모서리가 둥근 직사각형 8"/>
          <p:cNvSpPr/>
          <p:nvPr/>
        </p:nvSpPr>
        <p:spPr>
          <a:xfrm>
            <a:off x="1517575" y="3018446"/>
            <a:ext cx="580425" cy="246979"/>
          </a:xfrm>
          <a:prstGeom prst="roundRect">
            <a:avLst>
              <a:gd name="adj" fmla="val 30115"/>
            </a:avLst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altLang="ko-KR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(</a:t>
            </a:r>
            <a:r>
              <a:rPr lang="ko-KR" altLang="en-US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 내</a:t>
            </a:r>
            <a:r>
              <a:rPr lang="en-US" altLang="ko-KR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)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48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프로젝트 발표 평가 </a:t>
            </a:r>
            <a:r>
              <a:rPr lang="en-US" altLang="ko-KR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(</a:t>
            </a:r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팀 간</a:t>
            </a:r>
            <a:r>
              <a:rPr lang="en-US" altLang="ko-KR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)</a:t>
            </a:r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37143" y="1578308"/>
            <a:ext cx="888119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4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반 內 다른 팀 대상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으로  발표를 듣고  평가의견을 작성합니다</a:t>
            </a:r>
            <a: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948267" y="5026914"/>
            <a:ext cx="6096000" cy="5155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⇒  항목별 </a:t>
            </a:r>
            <a:r>
              <a:rPr lang="en-US" altLang="ko-KR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“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우수 이상</a:t>
            </a:r>
            <a:r>
              <a:rPr lang="en-US" altLang="ko-KR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“ 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평가는 </a:t>
            </a:r>
            <a:r>
              <a:rPr lang="ko-KR" altLang="en-US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최대 </a:t>
            </a:r>
            <a:r>
              <a:rPr lang="en-US" altLang="ko-KR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2</a:t>
            </a:r>
            <a:r>
              <a:rPr lang="ko-KR" altLang="en-US" sz="18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 부여 </a:t>
            </a:r>
            <a:r>
              <a:rPr lang="ko-KR" altLang="en-US" sz="16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가능</a:t>
            </a:r>
            <a:endParaRPr lang="en-US" altLang="ko-KR" sz="1600" b="1" kern="0" spc="-150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93212" y="2441591"/>
            <a:ext cx="68532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우리 반 內 모든 팀 대상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 err="1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평가의견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 입력 시</a:t>
            </a:r>
            <a: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,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평가근거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도 반드시 같이 기입 필요</a:t>
            </a:r>
            <a:b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</a:b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* 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발표에 근거한 의견을 작성 할 것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(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모든 팀에 동일한 내용 작성 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X)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팀의 의견을 종합하여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 별 대표자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가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 대 팀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으로 평가</a:t>
            </a:r>
            <a:br>
              <a:rPr lang="en-US" altLang="ko-KR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</a:b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* 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팀장이 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‘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공가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’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예정일 경우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, </a:t>
            </a:r>
            <a:r>
              <a:rPr lang="ko-KR" altLang="en-US" sz="1600" b="1" kern="0" spc="-151" dirty="0" err="1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부팀장</a:t>
            </a:r>
            <a:r>
              <a:rPr lang="ko-KR" altLang="en-US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 지정 필수</a:t>
            </a:r>
            <a:r>
              <a:rPr lang="en-US" altLang="ko-KR" sz="16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평가 완료 시 수정이 불가 </a:t>
            </a:r>
            <a:r>
              <a:rPr lang="ko-KR" altLang="en-US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하므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로 신중한 평가 필요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FF0066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최고점 부여 제한 </a:t>
            </a:r>
            <a:r>
              <a:rPr lang="ko-KR" altLang="en-US" sz="1800" b="1" kern="0" spc="-151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이 있음으로 유의해서 평가 필요</a:t>
            </a:r>
            <a:endParaRPr lang="en-US" altLang="ko-KR" sz="1800" b="1" kern="0" spc="-151" dirty="0">
              <a:ln w="0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긴고딕 Medium" panose="020B0600000101010101" pitchFamily="50" charset="-127"/>
              <a:ea typeface="삼성긴고딕 Medium" panose="020B0600000101010101" pitchFamily="50" charset="-127"/>
              <a:cs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143" y="2502538"/>
            <a:ext cx="2962514" cy="297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4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 err="1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발표평가</a:t>
            </a:r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 항목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204067" y="1387898"/>
          <a:ext cx="9535705" cy="2176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9304">
                  <a:extLst>
                    <a:ext uri="{9D8B030D-6E8A-4147-A177-3AD203B41FA5}">
                      <a16:colId xmlns:a16="http://schemas.microsoft.com/office/drawing/2014/main" val="2057270439"/>
                    </a:ext>
                  </a:extLst>
                </a:gridCol>
                <a:gridCol w="147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24">
                  <a:extLst>
                    <a:ext uri="{9D8B030D-6E8A-4147-A177-3AD203B41FA5}">
                      <a16:colId xmlns:a16="http://schemas.microsoft.com/office/drawing/2014/main" val="10336036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7560588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 문항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 rowSpan="4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8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  <a:r>
                        <a:rPr lang="ko-KR" altLang="en-US" sz="1400" b="1" kern="0" spc="-150" dirty="0" err="1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창의성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결과에 아이디어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기술 등의 면에서 창의성이 얼마나 발현되었는가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7395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D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실용성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프로젝트 결과물은</a:t>
                      </a:r>
                      <a:r>
                        <a:rPr lang="ko-KR" altLang="en-US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유용하며 실제 제품화 가능한가</a:t>
                      </a:r>
                      <a:r>
                        <a:rPr lang="en-US" altLang="ko-KR" sz="1400" b="1" kern="0" spc="-15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274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사용성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구현된 기능이 모두 정상적으로 동작하며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UI/UX </a:t>
                      </a: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등의 사용성이 우수 한가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산출물</a:t>
                      </a:r>
                      <a:endParaRPr lang="en-US" altLang="ko-KR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 내용은 프로젝트의 구조와 핵심 기능을 파악하기에 충분한가</a:t>
                      </a:r>
                      <a:r>
                        <a:rPr lang="en-US" altLang="ko-KR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?</a:t>
                      </a:r>
                      <a:endParaRPr lang="ko-KR" altLang="en-US" sz="1400" b="1" kern="0" spc="-15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kern="0" spc="-15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발표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093195" y="3709688"/>
            <a:ext cx="1186711" cy="556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ko-KR" altLang="en-US" sz="1600" b="1" kern="0" spc="-100" dirty="0">
                <a:ln>
                  <a:solidFill>
                    <a:srgbClr val="9BBB59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 panose="020B0604020202020204" pitchFamily="34" charset="0"/>
              </a:rPr>
              <a:t>평가 보기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232085" y="4135111"/>
          <a:ext cx="9535705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4239">
                  <a:extLst>
                    <a:ext uri="{9D8B030D-6E8A-4147-A177-3AD203B41FA5}">
                      <a16:colId xmlns:a16="http://schemas.microsoft.com/office/drawing/2014/main" val="207560588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평가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부족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내용에 충족하지 못함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99196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평균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C00000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내용에 어느정도 충족함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288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양호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상당 수 충족함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9423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우수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모두 충족하며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결과물</a:t>
                      </a:r>
                      <a:r>
                        <a:rPr lang="en-US" altLang="ko-KR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 역량</a:t>
                      </a:r>
                      <a:r>
                        <a:rPr lang="en-US" altLang="ko-KR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400" b="1" kern="0" spc="0" baseline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태도가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우수한 수준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임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739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매우 우수</a:t>
                      </a:r>
                      <a:endParaRPr lang="en-US" altLang="ko-KR" sz="1400" b="1" kern="0" spc="0" dirty="0">
                        <a:ln w="0"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해당 평가 항목의 내용을 모두 충족하고 결과물이 우수하며 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C0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독보적인 역량과 태도</a:t>
                      </a:r>
                      <a:r>
                        <a:rPr lang="ko-KR" altLang="en-US" sz="1400" b="1" kern="0" spc="0" dirty="0">
                          <a:ln w="0"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/>
                        </a:rPr>
                        <a:t>를 나타냄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27478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8775544" y="5660786"/>
            <a:ext cx="1728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* </a:t>
            </a:r>
            <a:r>
              <a:rPr lang="ko-KR" altLang="en-US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최대 </a:t>
            </a:r>
            <a:r>
              <a:rPr lang="en-US" altLang="ko-KR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2</a:t>
            </a:r>
            <a:r>
              <a:rPr lang="ko-KR" altLang="en-US" sz="1200" b="1" kern="0" dirty="0" err="1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개팀에게만</a:t>
            </a:r>
            <a:r>
              <a:rPr lang="ko-KR" altLang="en-US" sz="1200" b="1" kern="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 부여 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1454046" y="2996520"/>
            <a:ext cx="580425" cy="246979"/>
          </a:xfrm>
          <a:prstGeom prst="roundRect">
            <a:avLst>
              <a:gd name="adj" fmla="val 30115"/>
            </a:avLst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pPr algn="ctr"/>
            <a:r>
              <a:rPr lang="en-US" altLang="ko-KR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(</a:t>
            </a:r>
            <a:r>
              <a:rPr lang="ko-KR" altLang="en-US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팀 간</a:t>
            </a:r>
            <a:r>
              <a:rPr lang="en-US" altLang="ko-KR" sz="1400" b="1" kern="0" spc="-150" dirty="0">
                <a:ln w="0">
                  <a:solidFill>
                    <a:srgbClr val="4F81BD">
                      <a:alpha val="0"/>
                    </a:srgbClr>
                  </a:solidFill>
                </a:ln>
                <a:solidFill>
                  <a:srgbClr val="C00000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Arial"/>
              </a:rPr>
              <a:t>)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834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</p:spPr>
        <p:txBody>
          <a:bodyPr/>
          <a:lstStyle/>
          <a:p>
            <a:r>
              <a: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평가 일정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255881" y="1448181"/>
          <a:ext cx="9675812" cy="424794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2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153">
                <a:tc>
                  <a:txBody>
                    <a:bodyPr/>
                    <a:lstStyle/>
                    <a:p>
                      <a:pPr marL="177800" marR="0" indent="-17780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일정</a:t>
                      </a:r>
                      <a:endParaRPr lang="en-US" altLang="ko-KR" sz="20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1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20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주요 내용</a:t>
                      </a:r>
                      <a:endParaRPr lang="en-US" altLang="ko-KR" sz="20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91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59"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09:00~10:00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180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조회 및 발표 준비 마무리</a:t>
                      </a: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(</a:t>
                      </a:r>
                      <a:r>
                        <a:rPr lang="ko-KR" altLang="en-US" sz="1800" b="1" kern="0" spc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발표장표</a:t>
                      </a: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 제출</a:t>
                      </a: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)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59"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10:00~12:30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180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 panose="020B0604020202020204" pitchFamily="34" charset="0"/>
                        </a:rPr>
                        <a:t>Sub-</a:t>
                      </a:r>
                      <a:r>
                        <a:rPr lang="en-US" altLang="ko-KR" sz="1800" b="1" kern="0" spc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 panose="020B0604020202020204" pitchFamily="34" charset="0"/>
                        </a:rPr>
                        <a:t>PJTⅢ</a:t>
                      </a: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dk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최종 발표 진행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59"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12:30~14:00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180000" algn="l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중식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59"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14:00~17:00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180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 panose="020B0604020202020204" pitchFamily="34" charset="0"/>
                        </a:rPr>
                        <a:t>Sub-</a:t>
                      </a:r>
                      <a:r>
                        <a:rPr lang="en-US" altLang="ko-KR" sz="1800" b="1" kern="0" spc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Arial" panose="020B0604020202020204" pitchFamily="34" charset="0"/>
                        </a:rPr>
                        <a:t>PJTⅢ</a:t>
                      </a: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dk1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평가 진행 </a:t>
                      </a:r>
                      <a:r>
                        <a:rPr lang="en-US" altLang="ko-KR" sz="1800" b="1" kern="0" spc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(16:00</a:t>
                      </a:r>
                      <a:r>
                        <a:rPr lang="ko-KR" altLang="en-US" sz="1800" b="1" kern="0" spc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까지 평가 완료 입력 부탁드립니다 </a:t>
                      </a:r>
                      <a:r>
                        <a:rPr lang="en-US" altLang="ko-KR" sz="1800" b="1" kern="0" spc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  <a:sym typeface="Wingdings" panose="05000000000000000000" pitchFamily="2" charset="2"/>
                        </a:rPr>
                        <a:t></a:t>
                      </a:r>
                      <a:r>
                        <a:rPr lang="en-US" altLang="ko-KR" sz="1800" b="1" kern="0" spc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)</a:t>
                      </a:r>
                      <a:endParaRPr lang="en-US" altLang="ko-KR" sz="1800" b="1" kern="0" spc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359">
                <a:tc>
                  <a:txBody>
                    <a:bodyPr/>
                    <a:lstStyle/>
                    <a:p>
                      <a:pPr marL="177800" indent="-1778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17:00~18:00</a:t>
                      </a:r>
                      <a:endParaRPr lang="en-US" altLang="ko-KR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180000" algn="l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삼성긴고딕 Medium" panose="020B0600000101010101" pitchFamily="50" charset="-127"/>
                          <a:ea typeface="삼성긴고딕 Medium" panose="020B0600000101010101" pitchFamily="50" charset="-127"/>
                        </a:rPr>
                        <a:t>종례</a:t>
                      </a:r>
                      <a:endParaRPr lang="ko-KR" altLang="en-US" sz="18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삼성긴고딕 Medium" panose="020B0600000101010101" pitchFamily="50" charset="-127"/>
                        <a:ea typeface="삼성긴고딕 Medium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255881" y="4223042"/>
            <a:ext cx="9675812" cy="7395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498015-A4C6-4BA9-B302-21977B053AB6}"/>
              </a:ext>
            </a:extLst>
          </p:cNvPr>
          <p:cNvSpPr/>
          <p:nvPr/>
        </p:nvSpPr>
        <p:spPr>
          <a:xfrm>
            <a:off x="1258094" y="2749955"/>
            <a:ext cx="9675812" cy="7395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957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차주 월요일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월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최종 발표 준비물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22429" y="1969783"/>
            <a:ext cx="1083457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최종 산출물 제출 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(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최종 소스파일 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: </a:t>
            </a:r>
            <a:r>
              <a:rPr lang="en-US" altLang="ko-KR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master </a:t>
            </a:r>
            <a:r>
              <a:rPr lang="ko-KR" altLang="en-US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병합</a:t>
            </a:r>
            <a:r>
              <a:rPr lang="en-US" altLang="ko-KR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/ 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read.me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파일 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/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ko-KR" altLang="en-US" sz="2400" b="1" dirty="0" err="1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포팅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매뉴얼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정리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) </a:t>
            </a:r>
          </a:p>
          <a:p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                                PM 12:00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시 까지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제출 </a:t>
            </a:r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endParaRPr lang="en-US" altLang="ko-KR" sz="2400" b="1" dirty="0">
              <a:solidFill>
                <a:srgbClr val="FF0000"/>
              </a:solidFill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r>
              <a:rPr lang="en-US" altLang="ko-KR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   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최종 프로젝트 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발표 자료 </a:t>
            </a:r>
            <a:r>
              <a:rPr lang="en-US" altLang="ko-KR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30</a:t>
            </a:r>
            <a:r>
              <a:rPr lang="ko-KR" altLang="en-US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일 월요일 </a:t>
            </a:r>
            <a:r>
              <a:rPr lang="en-US" altLang="ko-KR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9</a:t>
            </a:r>
            <a:r>
              <a:rPr lang="ko-KR" altLang="en-US" sz="2400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시 전까지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각 팀 채널에 자료 올려주세요</a:t>
            </a:r>
            <a:endParaRPr lang="en-US" altLang="ko-KR" sz="2400" b="1" dirty="0">
              <a:solidFill>
                <a:srgbClr val="FF0000"/>
              </a:solidFill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endParaRPr lang="en-US" altLang="ko-KR" sz="2400" b="1" dirty="0">
              <a:solidFill>
                <a:srgbClr val="FF0000"/>
              </a:solidFill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    </a:t>
            </a:r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    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마지막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스프린트 회고</a:t>
            </a:r>
            <a:r>
              <a:rPr lang="ko-KR" altLang="en-US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r>
              <a:rPr lang="en-US" altLang="ko-KR" sz="2400" dirty="0"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(17:00 ~ 18:00)</a:t>
            </a:r>
          </a:p>
          <a:p>
            <a:pPr lvl="0"/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  <a:p>
            <a:pPr lvl="0"/>
            <a:endParaRPr lang="en-US" altLang="ko-KR" sz="2400" dirty="0">
              <a:latin typeface="삼성긴고딕OTF Heavy" panose="020B0600000101010101" pitchFamily="34" charset="-127"/>
              <a:ea typeface="삼성긴고딕OTF Heavy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3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4B8AC7D-860F-426C-AB2B-637A26D75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178" y="1217981"/>
            <a:ext cx="8659644" cy="5125800"/>
          </a:xfrm>
          <a:prstGeom prst="rect">
            <a:avLst/>
          </a:prstGeom>
        </p:spPr>
      </p:pic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최종 산출물 정리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9081126" y="3992122"/>
            <a:ext cx="771787" cy="6375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033208" y="5780392"/>
            <a:ext cx="1145663" cy="37872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368488" y="2253065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master </a:t>
            </a:r>
            <a:r>
              <a:rPr lang="ko-KR" altLang="en-US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병합</a:t>
            </a:r>
            <a:r>
              <a:rPr lang="en-US" altLang="ko-KR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364384" y="6052321"/>
            <a:ext cx="2377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master </a:t>
            </a:r>
            <a:r>
              <a:rPr lang="ko-KR" altLang="en-US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폴더 안에 생성</a:t>
            </a:r>
            <a:r>
              <a:rPr lang="en-US" altLang="ko-KR" dirty="0">
                <a:solidFill>
                  <a:srgbClr val="FF0000"/>
                </a:solidFill>
                <a:latin typeface="삼성긴고딕OTF Heavy" panose="020B0600000101010101" pitchFamily="34" charset="-127"/>
                <a:ea typeface="삼성긴고딕OTF Heavy" panose="020B0600000101010101" pitchFamily="34" charset="-127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315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FA6E4F7-5822-48E0-8BD1-676953FA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04" y="1097280"/>
            <a:ext cx="7270991" cy="5253253"/>
          </a:xfrm>
          <a:prstGeom prst="rect">
            <a:avLst/>
          </a:prstGeom>
        </p:spPr>
      </p:pic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최종 산출물 정리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614748" y="2620708"/>
            <a:ext cx="6304284" cy="14775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614748" y="4218525"/>
            <a:ext cx="6589509" cy="6973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614748" y="5036167"/>
            <a:ext cx="1874897" cy="42152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614748" y="5607085"/>
            <a:ext cx="4718765" cy="68158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88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4705350" y="3287042"/>
            <a:ext cx="2781300" cy="472440"/>
            <a:chOff x="4705350" y="2720340"/>
            <a:chExt cx="278130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4705350" y="2720340"/>
              <a:ext cx="278130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576631" y="2794978"/>
              <a:ext cx="1038746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ko-KR" altLang="en-US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요기 베라</a:t>
              </a:r>
              <a:endParaRPr lang="en-US" altLang="ko-KR" sz="2100" b="0" dirty="0">
                <a:solidFill>
                  <a:schemeClr val="tx1"/>
                </a:solidFill>
                <a:effectLst/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</p:grpSp>
      <p:sp>
        <p:nvSpPr>
          <p:cNvPr id="6" name="텍스트 개체 틀 15"/>
          <p:cNvSpPr txBox="1">
            <a:spLocks/>
          </p:cNvSpPr>
          <p:nvPr/>
        </p:nvSpPr>
        <p:spPr>
          <a:xfrm>
            <a:off x="1786326" y="1864728"/>
            <a:ext cx="8619347" cy="9233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rtlCol="0" anchor="t" anchorCtr="0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  <a:lvl2pPr marL="742913" indent="-285737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6000" dirty="0">
                <a:solidFill>
                  <a:srgbClr val="FFFFCC"/>
                </a:solidFill>
              </a:rPr>
              <a:t>끝날 때 까지 끝난 게 아니다</a:t>
            </a:r>
          </a:p>
        </p:txBody>
      </p:sp>
    </p:spTree>
    <p:extLst>
      <p:ext uri="{BB962C8B-B14F-4D97-AF65-F5344CB8AC3E}">
        <p14:creationId xmlns:p14="http://schemas.microsoft.com/office/powerpoint/2010/main" val="13773669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1263</Words>
  <Application>Microsoft Office PowerPoint</Application>
  <PresentationFormat>와이드스크린</PresentationFormat>
  <Paragraphs>311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맑은 고딕</vt:lpstr>
      <vt:lpstr>삼성긴고딕 Bold</vt:lpstr>
      <vt:lpstr>삼성긴고딕 ExtraBold</vt:lpstr>
      <vt:lpstr>삼성긴고딕 Medium</vt:lpstr>
      <vt:lpstr>삼성긴고딕 Regular</vt:lpstr>
      <vt:lpstr>삼성긴고딕OTF Heavy</vt:lpstr>
      <vt:lpstr>삼성긴고딕OTF Medium</vt:lpstr>
      <vt:lpstr>Arial</vt:lpstr>
      <vt:lpstr>Symbol</vt:lpstr>
      <vt:lpstr>Wingdings</vt:lpstr>
      <vt:lpstr>1_Office 테마</vt:lpstr>
      <vt:lpstr>PowerPoint 프레젠테이션</vt:lpstr>
      <vt:lpstr>목적</vt:lpstr>
      <vt:lpstr>1. Managed, UnManaged Language의 개념 </vt:lpstr>
      <vt:lpstr>2. UnManaged Language의 예시와 동작 원리 </vt:lpstr>
      <vt:lpstr>3. Managed Language의 예시와 동작 원리 </vt:lpstr>
      <vt:lpstr>4. Managed Language / UnManaged Language의 예시 </vt:lpstr>
      <vt:lpstr>결론</vt:lpstr>
      <vt:lpstr>Q&amp;A</vt:lpstr>
      <vt:lpstr>PowerPoint 프레젠테이션</vt:lpstr>
      <vt:lpstr>평가 항목</vt:lpstr>
      <vt:lpstr>프로젝트 상호 평가 (팀 내)</vt:lpstr>
      <vt:lpstr>상호평가 항목</vt:lpstr>
      <vt:lpstr>프로젝트 발표 평가 (팀 간)</vt:lpstr>
      <vt:lpstr>발표평가 항목</vt:lpstr>
      <vt:lpstr>평가 일정</vt:lpstr>
      <vt:lpstr>차주 월요일 (3월 30일) 최종 발표 준비물</vt:lpstr>
      <vt:lpstr>최종 산출물 정리</vt:lpstr>
      <vt:lpstr>최종 산출물 정리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최미정</dc:creator>
  <cp:lastModifiedBy>현석 이</cp:lastModifiedBy>
  <cp:revision>142</cp:revision>
  <dcterms:created xsi:type="dcterms:W3CDTF">2020-12-09T04:38:54Z</dcterms:created>
  <dcterms:modified xsi:type="dcterms:W3CDTF">2026-03-26T23:44:08Z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